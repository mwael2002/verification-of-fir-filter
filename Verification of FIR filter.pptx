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7" r:id="rId5"/>
    <p:sldId id="268" r:id="rId6"/>
    <p:sldId id="272" r:id="rId7"/>
    <p:sldId id="267" r:id="rId8"/>
    <p:sldId id="273" r:id="rId9"/>
    <p:sldId id="274" r:id="rId10"/>
    <p:sldId id="275" r:id="rId11"/>
    <p:sldId id="269" r:id="rId12"/>
    <p:sldId id="296" r:id="rId13"/>
    <p:sldId id="294" r:id="rId14"/>
    <p:sldId id="295" r:id="rId15"/>
    <p:sldId id="285" r:id="rId16"/>
    <p:sldId id="284" r:id="rId17"/>
    <p:sldId id="276" r:id="rId18"/>
    <p:sldId id="282" r:id="rId19"/>
    <p:sldId id="283" r:id="rId20"/>
    <p:sldId id="281" r:id="rId21"/>
    <p:sldId id="278" r:id="rId22"/>
    <p:sldId id="288" r:id="rId23"/>
    <p:sldId id="289" r:id="rId24"/>
    <p:sldId id="290" r:id="rId25"/>
    <p:sldId id="292" r:id="rId2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60"/>
  </p:normalViewPr>
  <p:slideViewPr>
    <p:cSldViewPr>
      <p:cViewPr varScale="1">
        <p:scale>
          <a:sx n="82" d="100"/>
          <a:sy n="82" d="100"/>
        </p:scale>
        <p:origin x="734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2/23/2026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ohammad-wael-750856298/" TargetMode="External"/><Relationship Id="rId2" Type="http://schemas.openxmlformats.org/officeDocument/2006/relationships/hyperlink" Target="https://github.com/mwael2002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1"/>
            <a:ext cx="8735325" cy="10160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Verification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FIR filter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38" y="1752600"/>
            <a:ext cx="6553200" cy="368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15963"/>
          </a:xfrm>
        </p:spPr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chemeClr val="accent6">
                    <a:lumMod val="75000"/>
                  </a:schemeClr>
                </a:solidFill>
              </a:rPr>
              <a:t>Contents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219200"/>
            <a:ext cx="10360501" cy="49448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1- </a:t>
            </a:r>
            <a:r>
              <a:rPr lang="en-US" dirty="0" smtClean="0"/>
              <a:t>Introduction</a:t>
            </a:r>
          </a:p>
          <a:p>
            <a:pPr marL="0" indent="0">
              <a:buNone/>
            </a:pPr>
            <a:r>
              <a:rPr lang="en-US" dirty="0" smtClean="0"/>
              <a:t>2- Filter design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3- MATLAB Golden Model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4- </a:t>
            </a:r>
            <a:r>
              <a:rPr lang="en-US" dirty="0"/>
              <a:t>FIR UVM environment</a:t>
            </a:r>
          </a:p>
          <a:p>
            <a:pPr marL="0" indent="0">
              <a:buNone/>
            </a:pPr>
            <a:r>
              <a:rPr lang="en-US" dirty="0" smtClean="0"/>
              <a:t>5- </a:t>
            </a:r>
            <a:r>
              <a:rPr lang="en-US" dirty="0"/>
              <a:t>Project phases</a:t>
            </a:r>
          </a:p>
          <a:p>
            <a:pPr marL="0" indent="0">
              <a:buNone/>
            </a:pPr>
            <a:r>
              <a:rPr lang="en-US" dirty="0" smtClean="0"/>
              <a:t>6- DUT Results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457200"/>
            <a:ext cx="10360501" cy="762000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 smtClean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Filters are one of the most basic Building Blocks in DSP (whether it’s for an ASIC or to be used on FPGA), They are vital blocks in any system. </a:t>
            </a:r>
          </a:p>
          <a:p>
            <a:pPr marL="0" indent="0">
              <a:buNone/>
            </a:pPr>
            <a:r>
              <a:rPr lang="en-US" dirty="0"/>
              <a:t>Mainly, A Filter is a LTI system that is used as a Signal Conditioning block which main role is to select the range of frequencies that will be either filtered out or allowed to pass through and it has 4 main types: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92D050"/>
                </a:solidFill>
              </a:rPr>
              <a:t>a</a:t>
            </a:r>
            <a:r>
              <a:rPr lang="en-US" b="1" dirty="0">
                <a:solidFill>
                  <a:srgbClr val="92D050"/>
                </a:solidFill>
              </a:rPr>
              <a:t>) Low Pass Filter (LPF): </a:t>
            </a:r>
            <a:r>
              <a:rPr lang="en-US" dirty="0"/>
              <a:t>allows frequencies that are below a certain threshold (Fc) to pass while attenuating above frequencies.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b="1" dirty="0">
                <a:solidFill>
                  <a:srgbClr val="C00000"/>
                </a:solidFill>
              </a:rPr>
              <a:t>) High Pass Filter (HPF): </a:t>
            </a:r>
            <a:r>
              <a:rPr lang="en-US" dirty="0"/>
              <a:t>allows frequencies that are above a certain threshold (Fc) to pass while attenuating below frequencies.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C000"/>
                </a:solidFill>
              </a:rPr>
              <a:t>c</a:t>
            </a:r>
            <a:r>
              <a:rPr lang="en-US" b="1" dirty="0">
                <a:solidFill>
                  <a:srgbClr val="FFC000"/>
                </a:solidFill>
              </a:rPr>
              <a:t>) Band Pass Filter (BPF): </a:t>
            </a:r>
            <a:r>
              <a:rPr lang="en-US" dirty="0"/>
              <a:t>allows frequencies that are between two limits (Fc1 &amp; Fc2) to pass while attenuating other frequencies.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d) Band Reject (Stop) Filter: </a:t>
            </a:r>
            <a:r>
              <a:rPr lang="en-US" dirty="0"/>
              <a:t>attenuates frequencies that are between two limits (Fc1 &amp; Fc2) while allowing other frequencies.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20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304800"/>
            <a:ext cx="10742929" cy="5859269"/>
          </a:xfrm>
        </p:spPr>
        <p:txBody>
          <a:bodyPr/>
          <a:lstStyle/>
          <a:p>
            <a:r>
              <a:rPr lang="en-US" dirty="0" smtClean="0"/>
              <a:t>We </a:t>
            </a:r>
            <a:r>
              <a:rPr lang="en-US" dirty="0"/>
              <a:t>w</a:t>
            </a:r>
            <a:r>
              <a:rPr lang="en-US" dirty="0" smtClean="0"/>
              <a:t>ill implement </a:t>
            </a:r>
            <a:r>
              <a:rPr lang="en-US" dirty="0" err="1" smtClean="0"/>
              <a:t>Lowpass</a:t>
            </a:r>
            <a:r>
              <a:rPr lang="en-US" dirty="0" smtClean="0"/>
              <a:t> FIR filter:</a:t>
            </a:r>
          </a:p>
          <a:p>
            <a:r>
              <a:rPr lang="en-US" dirty="0" smtClean="0"/>
              <a:t>FIR filter is an Impulse response</a:t>
            </a:r>
          </a:p>
          <a:p>
            <a:pPr marL="0" indent="0">
              <a:buNone/>
            </a:pPr>
            <a:r>
              <a:rPr lang="en-US" dirty="0" smtClean="0"/>
              <a:t>   that settles </a:t>
            </a:r>
            <a:r>
              <a:rPr lang="en-US" dirty="0"/>
              <a:t>at </a:t>
            </a:r>
            <a:r>
              <a:rPr lang="en-US" dirty="0" smtClean="0"/>
              <a:t>zero after </a:t>
            </a:r>
            <a:r>
              <a:rPr lang="en-US" dirty="0"/>
              <a:t>a </a:t>
            </a:r>
            <a:r>
              <a:rPr lang="en-US" dirty="0" smtClean="0"/>
              <a:t>finite</a:t>
            </a:r>
          </a:p>
          <a:p>
            <a:pPr marL="0" indent="0">
              <a:buNone/>
            </a:pPr>
            <a:r>
              <a:rPr lang="en-US" dirty="0" smtClean="0"/>
              <a:t>   period </a:t>
            </a:r>
            <a:r>
              <a:rPr lang="en-US" dirty="0"/>
              <a:t>of </a:t>
            </a:r>
            <a:r>
              <a:rPr lang="en-US" dirty="0" smtClean="0"/>
              <a:t>time, </a:t>
            </a:r>
            <a:r>
              <a:rPr lang="en-US" dirty="0"/>
              <a:t>hence called 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Finite </a:t>
            </a:r>
            <a:r>
              <a:rPr lang="en-US" dirty="0"/>
              <a:t>Impulse </a:t>
            </a:r>
            <a:r>
              <a:rPr lang="en-US" dirty="0" smtClean="0"/>
              <a:t>Response.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𝑥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[𝑛−𝑘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] : </a:t>
            </a:r>
            <a:r>
              <a:rPr lang="en-US" dirty="0"/>
              <a:t>input sampled signal (discrete)</a:t>
            </a:r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𝑦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[𝑛] : </a:t>
            </a:r>
            <a:r>
              <a:rPr lang="en-US" dirty="0"/>
              <a:t>The Filtered signal (FIR output)</a:t>
            </a:r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𝑏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𝑘</a:t>
            </a:r>
            <a:r>
              <a:rPr lang="en-US" sz="2400" dirty="0" smtClean="0"/>
              <a:t> </a:t>
            </a:r>
            <a:r>
              <a:rPr lang="en-US" dirty="0"/>
              <a:t>: Filter </a:t>
            </a:r>
            <a:r>
              <a:rPr lang="en-US" dirty="0" smtClean="0"/>
              <a:t>Coefficients</a:t>
            </a:r>
            <a:r>
              <a:rPr lang="en-US" dirty="0"/>
              <a:t>, which equals the impulse response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12" y="838200"/>
            <a:ext cx="5257800" cy="25781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012" y="3352800"/>
            <a:ext cx="2469094" cy="8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228600"/>
            <a:ext cx="10360501" cy="868363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 smtClean="0">
                <a:solidFill>
                  <a:schemeClr val="accent6">
                    <a:lumMod val="75000"/>
                  </a:schemeClr>
                </a:solidFill>
              </a:rPr>
              <a:t>Filter Design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18883" y="1371600"/>
            <a:ext cx="10360501" cy="5105399"/>
          </a:xfrm>
        </p:spPr>
        <p:txBody>
          <a:bodyPr>
            <a:normAutofit/>
          </a:bodyPr>
          <a:lstStyle/>
          <a:p>
            <a:r>
              <a:rPr lang="en-US" sz="1600" b="1" dirty="0"/>
              <a:t>FIR Design will go by three main blocks: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1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</a:t>
            </a: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Delay elements: </a:t>
            </a:r>
            <a:r>
              <a:rPr lang="en-US" sz="1600" dirty="0"/>
              <a:t>represents the Z-transform block which will clock each samples delay properly.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2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Multipliers: </a:t>
            </a:r>
            <a:r>
              <a:rPr lang="en-US" sz="1600" dirty="0"/>
              <a:t>for each of the taps coefficient values (impulse response) to be multiplied by the input samples.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3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Adders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1600" dirty="0"/>
              <a:t>The products from the multipliers are summed together to produce the filter's output.</a:t>
            </a:r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AE" sz="1600" dirty="0" smtClean="0"/>
              <a:t>A filter with N</a:t>
            </a:r>
            <a:r>
              <a:rPr lang="en-AE" sz="1600" baseline="30000" dirty="0" smtClean="0"/>
              <a:t>th </a:t>
            </a:r>
            <a:r>
              <a:rPr lang="en-AE" sz="1600" dirty="0"/>
              <a:t> </a:t>
            </a:r>
            <a:r>
              <a:rPr lang="en-AE" sz="1600" dirty="0" smtClean="0"/>
              <a:t>order will have </a:t>
            </a:r>
            <a:r>
              <a:rPr lang="en-AE" sz="1600" dirty="0" smtClean="0">
                <a:solidFill>
                  <a:schemeClr val="accent1">
                    <a:lumMod val="75000"/>
                  </a:schemeClr>
                </a:solidFill>
              </a:rPr>
              <a:t>(N) </a:t>
            </a:r>
            <a:r>
              <a:rPr lang="en-AE" sz="1600" dirty="0" smtClean="0"/>
              <a:t>Z-transform blocks and adders, However It’ll have </a:t>
            </a:r>
            <a:r>
              <a:rPr lang="en-AE" sz="1600" dirty="0" smtClean="0">
                <a:solidFill>
                  <a:srgbClr val="00B050"/>
                </a:solidFill>
              </a:rPr>
              <a:t>(N+1) </a:t>
            </a:r>
            <a:r>
              <a:rPr lang="en-AE" sz="1600" dirty="0" smtClean="0"/>
              <a:t>multiplier taps.</a:t>
            </a:r>
          </a:p>
          <a:p>
            <a:r>
              <a:rPr lang="en-AE" sz="1600" dirty="0" smtClean="0"/>
              <a:t> for example: In the figure above, We have </a:t>
            </a:r>
            <a:r>
              <a:rPr lang="en-AE" sz="1600" dirty="0" smtClean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AE" sz="1600" dirty="0" smtClean="0"/>
              <a:t> adders &amp;</a:t>
            </a:r>
            <a:r>
              <a:rPr lang="en-AE" sz="1600" dirty="0" smtClean="0">
                <a:solidFill>
                  <a:schemeClr val="accent1">
                    <a:lumMod val="75000"/>
                  </a:schemeClr>
                </a:solidFill>
              </a:rPr>
              <a:t> N </a:t>
            </a:r>
            <a:r>
              <a:rPr lang="en-AE" sz="1600" dirty="0" smtClean="0"/>
              <a:t>circular buffers, </a:t>
            </a:r>
            <a:r>
              <a:rPr lang="en-AE" sz="1600" dirty="0" smtClean="0">
                <a:solidFill>
                  <a:srgbClr val="00B050"/>
                </a:solidFill>
              </a:rPr>
              <a:t>(N+1) </a:t>
            </a:r>
            <a:r>
              <a:rPr lang="en-AE" sz="1600" dirty="0" smtClean="0"/>
              <a:t>taps, so it’s </a:t>
            </a:r>
            <a:r>
              <a:rPr lang="en-AE" sz="1600" dirty="0" smtClean="0">
                <a:solidFill>
                  <a:srgbClr val="00B0F0"/>
                </a:solidFill>
              </a:rPr>
              <a:t>4</a:t>
            </a:r>
            <a:r>
              <a:rPr lang="en-AE" sz="1600" baseline="30000" dirty="0" smtClean="0">
                <a:solidFill>
                  <a:srgbClr val="00B0F0"/>
                </a:solidFill>
              </a:rPr>
              <a:t>th</a:t>
            </a:r>
            <a:r>
              <a:rPr lang="en-AE" sz="1600" dirty="0" smtClean="0"/>
              <a:t> order filter.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926" y="3276600"/>
            <a:ext cx="8416412" cy="160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4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381000"/>
            <a:ext cx="10360501" cy="685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Transposed Vs. Direct Form filter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143000"/>
            <a:ext cx="10438129" cy="5334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/>
              <a:t>                                                                                                                            </a:t>
            </a:r>
            <a:r>
              <a:rPr lang="en-US" sz="1800" dirty="0" smtClean="0">
                <a:solidFill>
                  <a:srgbClr val="FF0000"/>
                </a:solidFill>
              </a:rPr>
              <a:t>   Critical </a:t>
            </a:r>
            <a:r>
              <a:rPr lang="en-US" sz="1800" dirty="0">
                <a:solidFill>
                  <a:srgbClr val="FF0000"/>
                </a:solidFill>
              </a:rPr>
              <a:t>Path = one </a:t>
            </a:r>
            <a:r>
              <a:rPr lang="en-US" sz="1800" dirty="0" err="1">
                <a:solidFill>
                  <a:srgbClr val="FF0000"/>
                </a:solidFill>
              </a:rPr>
              <a:t>mult</a:t>
            </a:r>
            <a:r>
              <a:rPr lang="en-US" sz="1800" dirty="0">
                <a:solidFill>
                  <a:srgbClr val="FF0000"/>
                </a:solidFill>
              </a:rPr>
              <a:t>. + N*adders 					           </a:t>
            </a:r>
            <a:r>
              <a:rPr lang="en-US" sz="1800" dirty="0" smtClean="0">
                <a:solidFill>
                  <a:srgbClr val="FF0000"/>
                </a:solidFill>
              </a:rPr>
              <a:t>where </a:t>
            </a:r>
            <a:r>
              <a:rPr lang="en-US" sz="1800" dirty="0">
                <a:solidFill>
                  <a:srgbClr val="FF0000"/>
                </a:solidFill>
              </a:rPr>
              <a:t>N equals FIR order </a:t>
            </a:r>
            <a:endParaRPr lang="en-US" sz="1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In this case: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                                                                                                                               (mult1 + add1 + add2 + add3 + add4)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/>
              <a:t>                                                                                                                          </a:t>
            </a:r>
            <a:r>
              <a:rPr lang="en-US" sz="1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Critical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Path = one </a:t>
            </a:r>
            <a:r>
              <a:rPr lang="en-US" sz="1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mult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.+ one adder 					            whatever the order of the FIR.</a:t>
            </a:r>
          </a:p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                                                                                           (mul5 + add4) in this case.</a:t>
            </a:r>
            <a:endParaRPr lang="en-US" sz="1800" dirty="0" smtClean="0"/>
          </a:p>
          <a:p>
            <a:r>
              <a:rPr lang="en-US" sz="1800" dirty="0" smtClean="0"/>
              <a:t>                                                                                                                          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29" y="1219200"/>
            <a:ext cx="6424234" cy="1219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73" y="4191000"/>
            <a:ext cx="6424234" cy="11919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05" b="13607"/>
          <a:stretch/>
        </p:blipFill>
        <p:spPr>
          <a:xfrm>
            <a:off x="8041921" y="5486400"/>
            <a:ext cx="2663761" cy="8654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921" y="2743200"/>
            <a:ext cx="2609851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7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609600"/>
            <a:ext cx="10360501" cy="5554469"/>
          </a:xfrm>
        </p:spPr>
        <p:txBody>
          <a:bodyPr/>
          <a:lstStyle/>
          <a:p>
            <a:r>
              <a:rPr lang="en-US" dirty="0"/>
              <a:t>Choosing the Filter to be Designed: </a:t>
            </a:r>
          </a:p>
          <a:p>
            <a:pPr marL="0" indent="0">
              <a:buNone/>
            </a:pPr>
            <a:r>
              <a:rPr lang="en-US" sz="2400" dirty="0" smtClean="0"/>
              <a:t>We </a:t>
            </a:r>
            <a:r>
              <a:rPr lang="en-US" sz="2400" dirty="0"/>
              <a:t>will </a:t>
            </a:r>
            <a:r>
              <a:rPr lang="en-US" sz="2400" dirty="0" smtClean="0"/>
              <a:t>design </a:t>
            </a:r>
            <a:r>
              <a:rPr lang="en-US" sz="2400" b="1" dirty="0" smtClean="0">
                <a:solidFill>
                  <a:srgbClr val="00B0F0"/>
                </a:solidFill>
              </a:rPr>
              <a:t>transposed </a:t>
            </a:r>
            <a:r>
              <a:rPr lang="en-US" sz="2400" dirty="0" smtClean="0"/>
              <a:t>filter that follow </a:t>
            </a:r>
            <a:r>
              <a:rPr lang="en-US" sz="2400" b="1" dirty="0">
                <a:solidFill>
                  <a:srgbClr val="00B0F0"/>
                </a:solidFill>
              </a:rPr>
              <a:t>w</a:t>
            </a:r>
            <a:r>
              <a:rPr lang="en-US" sz="2400" b="1" dirty="0" smtClean="0">
                <a:solidFill>
                  <a:srgbClr val="00B0F0"/>
                </a:solidFill>
              </a:rPr>
              <a:t>idowing </a:t>
            </a:r>
            <a:r>
              <a:rPr lang="en-US" sz="2400" b="1" dirty="0">
                <a:solidFill>
                  <a:srgbClr val="00B0F0"/>
                </a:solidFill>
              </a:rPr>
              <a:t>method </a:t>
            </a:r>
            <a:r>
              <a:rPr lang="en-US" sz="2400" dirty="0"/>
              <a:t>in designing our FIR Filter, </a:t>
            </a:r>
            <a:r>
              <a:rPr lang="en-US" sz="2400" dirty="0" smtClean="0"/>
              <a:t>and our chosen </a:t>
            </a:r>
            <a:r>
              <a:rPr lang="en-US" sz="2400" dirty="0"/>
              <a:t>window will be </a:t>
            </a:r>
            <a:r>
              <a:rPr lang="en-US" sz="2400" b="1" dirty="0" smtClean="0">
                <a:solidFill>
                  <a:srgbClr val="00B0F0"/>
                </a:solidFill>
              </a:rPr>
              <a:t>hamming window</a:t>
            </a:r>
            <a:r>
              <a:rPr lang="en-US" sz="2400" dirty="0"/>
              <a:t>, so our design parameters </a:t>
            </a:r>
            <a:r>
              <a:rPr lang="en-US" sz="2400" dirty="0" smtClean="0"/>
              <a:t>will </a:t>
            </a:r>
            <a:r>
              <a:rPr lang="en-US" sz="2400" dirty="0"/>
              <a:t>go as follows</a:t>
            </a:r>
            <a:r>
              <a:rPr lang="en-US" dirty="0"/>
              <a:t>: </a:t>
            </a:r>
          </a:p>
          <a:p>
            <a:pPr lvl="1"/>
            <a:r>
              <a:rPr lang="en-US" sz="2000" b="1" dirty="0"/>
              <a:t>A </a:t>
            </a:r>
            <a:r>
              <a:rPr lang="en-US" sz="2000" b="1" dirty="0" smtClean="0">
                <a:solidFill>
                  <a:srgbClr val="00B0F0"/>
                </a:solidFill>
              </a:rPr>
              <a:t>50-order (51 </a:t>
            </a:r>
            <a:r>
              <a:rPr lang="en-US" sz="2000" b="1" dirty="0">
                <a:solidFill>
                  <a:srgbClr val="00B0F0"/>
                </a:solidFill>
              </a:rPr>
              <a:t>taps) </a:t>
            </a:r>
            <a:r>
              <a:rPr lang="en-US" sz="2000" b="1" dirty="0"/>
              <a:t>hamming FIR LPF Filter is to be designed with a cutoff frequency of </a:t>
            </a:r>
            <a:r>
              <a:rPr lang="en-US" sz="2000" b="1" dirty="0" smtClean="0">
                <a:solidFill>
                  <a:srgbClr val="00B0F0"/>
                </a:solidFill>
              </a:rPr>
              <a:t>1 </a:t>
            </a:r>
            <a:r>
              <a:rPr lang="en-US" sz="2000" b="1" dirty="0">
                <a:solidFill>
                  <a:srgbClr val="00B0F0"/>
                </a:solidFill>
              </a:rPr>
              <a:t>KHZ</a:t>
            </a:r>
            <a:r>
              <a:rPr lang="en-US" sz="2000" b="1" dirty="0"/>
              <a:t> for a sampling frequency of </a:t>
            </a:r>
            <a:r>
              <a:rPr lang="en-US" sz="2000" b="1" dirty="0" smtClean="0">
                <a:solidFill>
                  <a:srgbClr val="00B0F0"/>
                </a:solidFill>
              </a:rPr>
              <a:t>48 KHz.</a:t>
            </a:r>
            <a:endParaRPr lang="en-US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4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44563"/>
          </a:xfrm>
        </p:spPr>
        <p:txBody>
          <a:bodyPr/>
          <a:lstStyle/>
          <a:p>
            <a:pPr algn="ctr"/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MATLAB Golden Model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371600"/>
            <a:ext cx="10666729" cy="502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Steps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1- </a:t>
            </a:r>
            <a:r>
              <a:rPr lang="en-US" sz="2400" dirty="0"/>
              <a:t>G</a:t>
            </a:r>
            <a:r>
              <a:rPr lang="en-US" sz="2400" dirty="0" smtClean="0"/>
              <a:t>enerate 3 sine waves of frequencies (500,1000,3000) Hz.</a:t>
            </a:r>
          </a:p>
          <a:p>
            <a:pPr marL="0" indent="0">
              <a:buNone/>
            </a:pPr>
            <a:endParaRPr lang="en-US" sz="2400" dirty="0" smtClean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450" y="2590799"/>
            <a:ext cx="3896665" cy="2982845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681" y="2590799"/>
            <a:ext cx="3956434" cy="29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533400"/>
            <a:ext cx="10590529" cy="563066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2- </a:t>
            </a:r>
            <a:r>
              <a:rPr lang="en-US" sz="2400" dirty="0"/>
              <a:t>Read the audio recording file (can_recording.wav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and convert it into signal points.</a:t>
            </a:r>
          </a:p>
          <a:p>
            <a:pPr marL="0" indent="0">
              <a:buNone/>
            </a:pPr>
            <a:r>
              <a:rPr lang="en-US" sz="2400" dirty="0"/>
              <a:t>3- Choose 48 KHz sampling frequency as it’s more</a:t>
            </a:r>
          </a:p>
          <a:p>
            <a:pPr marL="0" indent="0">
              <a:buNone/>
            </a:pPr>
            <a:r>
              <a:rPr lang="en-US" sz="2400" dirty="0"/>
              <a:t> than the twice the highest </a:t>
            </a:r>
            <a:r>
              <a:rPr lang="en-US" sz="2400" dirty="0" err="1"/>
              <a:t>heared</a:t>
            </a:r>
            <a:r>
              <a:rPr lang="en-US" sz="2400" dirty="0"/>
              <a:t> audio frequency,</a:t>
            </a:r>
          </a:p>
          <a:p>
            <a:pPr marL="0" indent="0">
              <a:buNone/>
            </a:pPr>
            <a:r>
              <a:rPr lang="en-US" sz="2400" dirty="0"/>
              <a:t> so it’ll be suitable for both the audio &amp; sine waves.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" r="2196"/>
          <a:stretch/>
        </p:blipFill>
        <p:spPr>
          <a:xfrm>
            <a:off x="1674812" y="3200400"/>
            <a:ext cx="3679747" cy="28548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612" y="609600"/>
            <a:ext cx="3654663" cy="279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1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304800"/>
            <a:ext cx="10360501" cy="64008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4- </a:t>
            </a:r>
            <a:r>
              <a:rPr lang="en-US" sz="2400" dirty="0"/>
              <a:t>Add Additive white Gaussian noise (AWGN) to all the signals of mean equals zero and variance equals 0.09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968" y="1149896"/>
            <a:ext cx="3488857" cy="2668849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1" y="1184547"/>
            <a:ext cx="3451119" cy="25995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5"/>
          <a:stretch/>
        </p:blipFill>
        <p:spPr>
          <a:xfrm>
            <a:off x="1589970" y="3928496"/>
            <a:ext cx="3488855" cy="2777104"/>
          </a:xfrm>
          <a:prstGeom prst="rect">
            <a:avLst/>
          </a:prstGeom>
        </p:spPr>
      </p:pic>
      <p:pic>
        <p:nvPicPr>
          <p:cNvPr id="8" name="Content Placeholder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316"/>
          <a:stretch/>
        </p:blipFill>
        <p:spPr>
          <a:xfrm>
            <a:off x="6765329" y="3888049"/>
            <a:ext cx="3480884" cy="28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9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228600"/>
            <a:ext cx="10360501" cy="6629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5- Write each input signals in form of fixed point in a separate txt file.</a:t>
            </a:r>
          </a:p>
          <a:p>
            <a:pPr marL="0" indent="0">
              <a:buNone/>
            </a:pPr>
            <a:r>
              <a:rPr lang="en-US" sz="2400" dirty="0" smtClean="0"/>
              <a:t>6- </a:t>
            </a:r>
            <a:r>
              <a:rPr lang="en-US" sz="2400" dirty="0"/>
              <a:t>Generate filter coefficients according to the specs discussed before.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2" y="1309408"/>
            <a:ext cx="3510083" cy="26987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412" y="1309409"/>
            <a:ext cx="3514607" cy="26987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612" y="4111731"/>
            <a:ext cx="6228312" cy="261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9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304800"/>
            <a:ext cx="10360501" cy="64008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7- </a:t>
            </a:r>
            <a:r>
              <a:rPr lang="en-US" sz="2400" dirty="0">
                <a:solidFill>
                  <a:prstClr val="white"/>
                </a:solidFill>
              </a:rPr>
              <a:t>Apply the filter response to the 4 signals using (filter) function</a:t>
            </a:r>
            <a:r>
              <a:rPr lang="en-US" sz="2400" dirty="0" smtClean="0">
                <a:solidFill>
                  <a:prstClr val="white"/>
                </a:solidFill>
              </a:rPr>
              <a:t>.</a:t>
            </a:r>
            <a:endParaRPr lang="en-US" sz="2400" dirty="0" smtClean="0"/>
          </a:p>
          <a:p>
            <a:pPr marL="0" lvl="0" indent="0">
              <a:buClr>
                <a:srgbClr val="009999"/>
              </a:buClr>
              <a:buNone/>
            </a:pPr>
            <a:endParaRPr lang="en-US" dirty="0">
              <a:solidFill>
                <a:prstClr val="white"/>
              </a:solidFill>
            </a:endParaRPr>
          </a:p>
          <a:p>
            <a:pPr marL="0" indent="0">
              <a:buNone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03"/>
          <a:stretch/>
        </p:blipFill>
        <p:spPr>
          <a:xfrm>
            <a:off x="1370012" y="797766"/>
            <a:ext cx="3581400" cy="28259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784768"/>
            <a:ext cx="3581400" cy="28358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2170"/>
          <a:stretch/>
        </p:blipFill>
        <p:spPr>
          <a:xfrm>
            <a:off x="1370012" y="3744872"/>
            <a:ext cx="3581400" cy="27929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6"/>
          <a:stretch/>
        </p:blipFill>
        <p:spPr>
          <a:xfrm>
            <a:off x="6551612" y="3744872"/>
            <a:ext cx="3581400" cy="281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9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44563"/>
          </a:xfrm>
        </p:spPr>
        <p:txBody>
          <a:bodyPr>
            <a:normAutofit fontScale="90000"/>
          </a:bodyPr>
          <a:lstStyle/>
          <a:p>
            <a:pPr lvl="0">
              <a:spcBef>
                <a:spcPts val="1600"/>
              </a:spcBef>
            </a:pPr>
            <a:r>
              <a:rPr lang="en-US" sz="2400" dirty="0">
                <a:solidFill>
                  <a:prstClr val="white"/>
                </a:solidFill>
                <a:ea typeface="+mn-ea"/>
                <a:cs typeface="+mn-cs"/>
              </a:rPr>
              <a:t/>
            </a:r>
            <a:br>
              <a:rPr lang="en-US" sz="2400" dirty="0">
                <a:solidFill>
                  <a:prstClr val="white"/>
                </a:solidFill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218883" y="381000"/>
            <a:ext cx="10360501" cy="5791200"/>
          </a:xfrm>
        </p:spPr>
        <p:txBody>
          <a:bodyPr/>
          <a:lstStyle/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8- Write each output signal in fraction form in a separate txt file.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9- Write the audio signal in a wav file in order to hear it.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10- After running </a:t>
            </a:r>
            <a:r>
              <a:rPr lang="en-US" sz="2400" dirty="0" err="1">
                <a:solidFill>
                  <a:prstClr val="white"/>
                </a:solidFill>
              </a:rPr>
              <a:t>Questasim</a:t>
            </a:r>
            <a:r>
              <a:rPr lang="en-US" sz="2400" dirty="0">
                <a:solidFill>
                  <a:prstClr val="white"/>
                </a:solidFill>
              </a:rPr>
              <a:t> it’ll write the tested design signal in a txt file, Read it and write it in wav file, to can hear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304800"/>
            <a:ext cx="10360501" cy="685800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>
                <a:solidFill>
                  <a:schemeClr val="accent6">
                    <a:lumMod val="75000"/>
                  </a:schemeClr>
                </a:solidFill>
              </a:rPr>
              <a:t>F</a:t>
            </a:r>
            <a:r>
              <a:rPr lang="en-US" sz="4000" b="1" i="1" dirty="0" smtClean="0">
                <a:solidFill>
                  <a:schemeClr val="accent6">
                    <a:lumMod val="75000"/>
                  </a:schemeClr>
                </a:solidFill>
              </a:rPr>
              <a:t>IR UVM Environment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18883" y="1219200"/>
            <a:ext cx="10514329" cy="5334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figure on the right shows UVM</a:t>
            </a:r>
          </a:p>
          <a:p>
            <a:pPr marL="0" indent="0">
              <a:buNone/>
            </a:pPr>
            <a:r>
              <a:rPr lang="en-US" sz="2000" dirty="0" smtClean="0"/>
              <a:t>environment with 2 agents &amp; 2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i</a:t>
            </a:r>
            <a:r>
              <a:rPr lang="en-US" sz="2000" dirty="0" smtClean="0"/>
              <a:t>nterfaces, but in our design we will</a:t>
            </a:r>
          </a:p>
          <a:p>
            <a:pPr marL="0" indent="0">
              <a:buNone/>
            </a:pPr>
            <a:r>
              <a:rPr lang="en-US" sz="2000" dirty="0"/>
              <a:t>n</a:t>
            </a:r>
            <a:r>
              <a:rPr lang="en-US" sz="2000" dirty="0" smtClean="0"/>
              <a:t>eed only one  agent &amp; one interface</a:t>
            </a:r>
          </a:p>
          <a:p>
            <a:pPr marL="0" indent="0">
              <a:buNone/>
            </a:pPr>
            <a:r>
              <a:rPr lang="en-US" sz="2000" dirty="0"/>
              <a:t>o</a:t>
            </a:r>
            <a:r>
              <a:rPr lang="en-US" sz="2000" dirty="0" smtClean="0"/>
              <a:t>nly.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UVM objects</a:t>
            </a:r>
          </a:p>
          <a:p>
            <a:pPr marL="0" indent="0">
              <a:buNone/>
            </a:pPr>
            <a:r>
              <a:rPr lang="en-US" sz="2400" dirty="0" smtClean="0"/>
              <a:t>1- Sequence item</a:t>
            </a:r>
          </a:p>
          <a:p>
            <a:pPr lvl="1"/>
            <a:r>
              <a:rPr lang="en-US" sz="1600" dirty="0"/>
              <a:t>Contains three main signals, noisy input, filtered output and reset.</a:t>
            </a:r>
          </a:p>
          <a:p>
            <a:pPr lvl="1"/>
            <a:r>
              <a:rPr lang="en-US" sz="1600" dirty="0"/>
              <a:t>Takes the noisy input signal points from txt file then store it in an array. </a:t>
            </a:r>
          </a:p>
          <a:p>
            <a:pPr lvl="1"/>
            <a:r>
              <a:rPr lang="en-US" sz="1600" dirty="0"/>
              <a:t>Also contain array for filtered signal, that will be used by Scoreboard &amp; Coverage collector.</a:t>
            </a:r>
          </a:p>
          <a:p>
            <a:pPr lvl="1"/>
            <a:r>
              <a:rPr lang="en-US" sz="1600" dirty="0"/>
              <a:t>Constraint the reset to be always asserted  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2" y="1219200"/>
            <a:ext cx="4545171" cy="32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7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609600"/>
            <a:ext cx="10360501" cy="5715000"/>
          </a:xfrm>
        </p:spPr>
        <p:txBody>
          <a:bodyPr>
            <a:normAutofit/>
          </a:bodyPr>
          <a:lstStyle/>
          <a:p>
            <a:pPr marL="0" lvl="0" indent="0">
              <a:buClr>
                <a:srgbClr val="009999"/>
              </a:buClr>
              <a:buNone/>
            </a:pPr>
            <a:r>
              <a:rPr lang="en-US" sz="2400" dirty="0" smtClean="0">
                <a:solidFill>
                  <a:prstClr val="white"/>
                </a:solidFill>
              </a:rPr>
              <a:t>2- Sequence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Creates sequence item for reset assertion.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Creates 4 sequence items, each item read an input signal (disables randomization for all of them). 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Sends the 4 sequence items to the sequencer and before each one, it sends the reset sequence item.  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 smtClean="0">
                <a:solidFill>
                  <a:prstClr val="white"/>
                </a:solidFill>
              </a:rPr>
              <a:t>3- Configuration object</a:t>
            </a:r>
            <a:endParaRPr lang="en-US" sz="2400" dirty="0">
              <a:solidFill>
                <a:prstClr val="white"/>
              </a:solidFill>
            </a:endParaRPr>
          </a:p>
          <a:p>
            <a:pPr marL="0" lvl="0" indent="0">
              <a:buClr>
                <a:srgbClr val="009999"/>
              </a:buClr>
              <a:buNone/>
            </a:pPr>
            <a:r>
              <a:rPr lang="en-US" sz="2000" dirty="0">
                <a:solidFill>
                  <a:prstClr val="white"/>
                </a:solidFill>
              </a:rPr>
              <a:t> </a:t>
            </a:r>
            <a:r>
              <a:rPr lang="en-US" sz="2000" dirty="0" smtClean="0">
                <a:solidFill>
                  <a:prstClr val="white"/>
                </a:solidFill>
              </a:rPr>
              <a:t>    There’s </a:t>
            </a:r>
            <a:r>
              <a:rPr lang="en-US" sz="2000" dirty="0">
                <a:solidFill>
                  <a:prstClr val="white"/>
                </a:solidFill>
              </a:rPr>
              <a:t>2 </a:t>
            </a:r>
            <a:r>
              <a:rPr lang="en-US" sz="2000" dirty="0" err="1">
                <a:solidFill>
                  <a:prstClr val="white"/>
                </a:solidFill>
              </a:rPr>
              <a:t>configuarion</a:t>
            </a:r>
            <a:r>
              <a:rPr lang="en-US" sz="2000" dirty="0">
                <a:solidFill>
                  <a:prstClr val="white"/>
                </a:solidFill>
              </a:rPr>
              <a:t> objects.</a:t>
            </a:r>
          </a:p>
          <a:p>
            <a:pPr lvl="1">
              <a:buClr>
                <a:srgbClr val="009999"/>
              </a:buClr>
            </a:pPr>
            <a:r>
              <a:rPr lang="en-US" sz="1800" b="1" dirty="0" smtClean="0">
                <a:solidFill>
                  <a:prstClr val="white"/>
                </a:solidFill>
              </a:rPr>
              <a:t>The First: </a:t>
            </a:r>
            <a:r>
              <a:rPr lang="en-US" sz="1800" dirty="0" smtClean="0">
                <a:solidFill>
                  <a:prstClr val="white"/>
                </a:solidFill>
              </a:rPr>
              <a:t>Stores the virtual interface and gives it to the components that’ll use it.</a:t>
            </a:r>
          </a:p>
          <a:p>
            <a:pPr lvl="1"/>
            <a:r>
              <a:rPr lang="en-US" sz="1800" b="1" dirty="0">
                <a:solidFill>
                  <a:prstClr val="white"/>
                </a:solidFill>
              </a:rPr>
              <a:t>The </a:t>
            </a:r>
            <a:r>
              <a:rPr lang="en-US" sz="1800" b="1" dirty="0" smtClean="0">
                <a:solidFill>
                  <a:prstClr val="white"/>
                </a:solidFill>
              </a:rPr>
              <a:t>Second: </a:t>
            </a:r>
            <a:r>
              <a:rPr lang="en-US" sz="1800" dirty="0" smtClean="0">
                <a:solidFill>
                  <a:prstClr val="white"/>
                </a:solidFill>
              </a:rPr>
              <a:t>Contains a variable used by the monitor to determine the first sequence item sent for delay purposes.</a:t>
            </a:r>
          </a:p>
          <a:p>
            <a:pPr lvl="0">
              <a:buClr>
                <a:srgbClr val="009999"/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UVM Components: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1- Interface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Connects the DUT and the UVM environment</a:t>
            </a:r>
            <a:r>
              <a:rPr lang="en-US" sz="1400" dirty="0">
                <a:solidFill>
                  <a:prstClr val="white"/>
                </a:solidFill>
              </a:rPr>
              <a:t>. </a:t>
            </a:r>
          </a:p>
          <a:p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8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533400"/>
            <a:ext cx="10360501" cy="6019800"/>
          </a:xfrm>
        </p:spPr>
        <p:txBody>
          <a:bodyPr>
            <a:normAutofit/>
          </a:bodyPr>
          <a:lstStyle/>
          <a:p>
            <a:pPr marL="0" lvl="0" indent="0">
              <a:buClr>
                <a:srgbClr val="009999"/>
              </a:buClr>
              <a:buNone/>
            </a:pPr>
            <a:r>
              <a:rPr lang="en-US" sz="2400" dirty="0" smtClean="0">
                <a:solidFill>
                  <a:prstClr val="white"/>
                </a:solidFill>
              </a:rPr>
              <a:t>2- </a:t>
            </a:r>
            <a:r>
              <a:rPr lang="en-US" sz="2400" dirty="0">
                <a:solidFill>
                  <a:prstClr val="white"/>
                </a:solidFill>
              </a:rPr>
              <a:t>DUT (Device Under Test)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The desired design need to be tested.</a:t>
            </a:r>
            <a:endParaRPr lang="en-US" sz="3200" dirty="0">
              <a:solidFill>
                <a:prstClr val="white"/>
              </a:solidFill>
            </a:endParaRP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3- Test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Instantiates the environment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Controls the sequences and configurations.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Connects the coverage collector to the environment.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4-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dirty="0">
                <a:solidFill>
                  <a:prstClr val="white"/>
                </a:solidFill>
              </a:rPr>
              <a:t>Environment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Instantiates the Agent, Scoreboard, and Coverage Collector.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Connects the DUT interface to the Agent.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5- Agent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Instantiate  Sequencer, Driver, and Monitor.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Connects Sequencer &amp; Driver with TLM. 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Drives the interface signals to the DUT via the Driver.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Monitors the interface for outputs via the Monitor.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8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533400"/>
            <a:ext cx="10360501" cy="5715000"/>
          </a:xfrm>
        </p:spPr>
        <p:txBody>
          <a:bodyPr>
            <a:normAutofit/>
          </a:bodyPr>
          <a:lstStyle/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6- Sequencer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Drives the sequence to the Driver.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Sends sequence items to the Driver.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7- Driver</a:t>
            </a:r>
            <a:endParaRPr lang="en-US" sz="1800" dirty="0">
              <a:solidFill>
                <a:prstClr val="white"/>
              </a:solidFill>
            </a:endParaRP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Loops on the input signal array sent within the sequence item and drives each point to the virtual interface along with rest.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8- Monitor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Collects the output filtered signal from the DUT in an array.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Encapsulates the filtered signal array &amp; reset in a sequence then broadcast it to the Scoreboard &amp; Coverage Collector.  </a:t>
            </a:r>
          </a:p>
          <a:p>
            <a:pPr marL="0" lvl="0" indent="0">
              <a:buClr>
                <a:srgbClr val="009999"/>
              </a:buClr>
              <a:buNone/>
            </a:pPr>
            <a:r>
              <a:rPr lang="en-US" sz="2400" dirty="0">
                <a:solidFill>
                  <a:prstClr val="white"/>
                </a:solidFill>
              </a:rPr>
              <a:t>9- </a:t>
            </a:r>
            <a:r>
              <a:rPr lang="en-US" sz="2400" dirty="0" smtClean="0">
                <a:solidFill>
                  <a:prstClr val="white"/>
                </a:solidFill>
              </a:rPr>
              <a:t>Coverage </a:t>
            </a:r>
            <a:r>
              <a:rPr lang="en-US" sz="2400" dirty="0">
                <a:solidFill>
                  <a:prstClr val="white"/>
                </a:solidFill>
              </a:rPr>
              <a:t>collector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Receives sequence items from the monitor.</a:t>
            </a:r>
          </a:p>
          <a:p>
            <a:pPr lvl="1">
              <a:buClr>
                <a:srgbClr val="009999"/>
              </a:buClr>
            </a:pPr>
            <a:r>
              <a:rPr lang="en-US" sz="1800" dirty="0">
                <a:solidFill>
                  <a:prstClr val="white"/>
                </a:solidFill>
              </a:rPr>
              <a:t>Performs functional coverage on inputs &amp; outputs.</a:t>
            </a:r>
          </a:p>
        </p:txBody>
      </p:sp>
    </p:spTree>
    <p:extLst>
      <p:ext uri="{BB962C8B-B14F-4D97-AF65-F5344CB8AC3E}">
        <p14:creationId xmlns:p14="http://schemas.microsoft.com/office/powerpoint/2010/main" val="329250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533400"/>
            <a:ext cx="10360501" cy="5943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10- Scoreboard</a:t>
            </a:r>
          </a:p>
          <a:p>
            <a:pPr lvl="1"/>
            <a:r>
              <a:rPr lang="en-US" sz="1800" dirty="0"/>
              <a:t>Receives sequence items from the monitor</a:t>
            </a:r>
          </a:p>
          <a:p>
            <a:pPr lvl="1"/>
            <a:r>
              <a:rPr lang="en-US" sz="1800" dirty="0"/>
              <a:t>Reads the filtered signal from output file from MATLAB</a:t>
            </a:r>
          </a:p>
          <a:p>
            <a:pPr lvl="1"/>
            <a:r>
              <a:rPr lang="en-US" sz="1800" dirty="0"/>
              <a:t>Compares the filtered signal from DUT with the one MATLAB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4165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1"/>
            <a:ext cx="10360501" cy="838199"/>
          </a:xfrm>
        </p:spPr>
        <p:txBody>
          <a:bodyPr/>
          <a:lstStyle/>
          <a:p>
            <a:pPr algn="ctr"/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Project phases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143000"/>
            <a:ext cx="10360501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1-</a:t>
            </a:r>
            <a:r>
              <a:rPr lang="en-US" dirty="0" smtClean="0"/>
              <a:t> </a:t>
            </a:r>
            <a:r>
              <a:rPr lang="en-US" sz="2400" dirty="0" smtClean="0"/>
              <a:t>After building </a:t>
            </a:r>
            <a:r>
              <a:rPr lang="en-US" sz="2400" dirty="0" err="1" smtClean="0"/>
              <a:t>Questasim</a:t>
            </a:r>
            <a:r>
              <a:rPr lang="en-US" sz="2400" dirty="0" smtClean="0"/>
              <a:t> project named (FIR), Run </a:t>
            </a:r>
            <a:r>
              <a:rPr lang="en-US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(run_script.py) </a:t>
            </a:r>
            <a:r>
              <a:rPr lang="en-US" sz="2400" dirty="0" smtClean="0"/>
              <a:t>script.</a:t>
            </a:r>
          </a:p>
          <a:p>
            <a:pPr marL="0" indent="0">
              <a:buNone/>
            </a:pPr>
            <a:r>
              <a:rPr lang="en-US" sz="2400" dirty="0" smtClean="0"/>
              <a:t>2- The python script will open </a:t>
            </a:r>
            <a:r>
              <a:rPr lang="en-US" sz="2400" dirty="0" err="1" smtClean="0"/>
              <a:t>Matlab</a:t>
            </a:r>
            <a:r>
              <a:rPr lang="en-US" sz="2400" dirty="0" smtClean="0"/>
              <a:t> and run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Signal_Generation.m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 </a:t>
            </a:r>
            <a:r>
              <a:rPr lang="en-US" sz="2400" dirty="0" smtClean="0"/>
              <a:t>script.</a:t>
            </a:r>
          </a:p>
          <a:p>
            <a:pPr marL="0" indent="0">
              <a:buNone/>
            </a:pPr>
            <a:r>
              <a:rPr lang="en-US" sz="2400" dirty="0" smtClean="0"/>
              <a:t>3-  After </a:t>
            </a:r>
            <a:r>
              <a:rPr lang="en-US" sz="2400" dirty="0" err="1" smtClean="0"/>
              <a:t>Matlab</a:t>
            </a:r>
            <a:r>
              <a:rPr lang="en-US" sz="2400" dirty="0" smtClean="0"/>
              <a:t> finishes and you close </a:t>
            </a:r>
            <a:r>
              <a:rPr lang="en-US" sz="2400" dirty="0" err="1" smtClean="0"/>
              <a:t>Matlab</a:t>
            </a:r>
            <a:r>
              <a:rPr lang="en-US" sz="2400" dirty="0" smtClean="0"/>
              <a:t>, The python script will open FIR       </a:t>
            </a:r>
            <a:r>
              <a:rPr lang="en-US" sz="2400" dirty="0"/>
              <a:t>Q</a:t>
            </a:r>
            <a:r>
              <a:rPr lang="en-US" sz="2400" dirty="0" smtClean="0"/>
              <a:t>uesta project and run the do file </a:t>
            </a:r>
            <a:r>
              <a:rPr lang="en-US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(run.do)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 smtClean="0"/>
              <a:t>3- The TCL commands in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(run.do) </a:t>
            </a:r>
            <a:r>
              <a:rPr lang="en-US" sz="2400" dirty="0" smtClean="0"/>
              <a:t>will run the project, add waveforms and enable code coverage.</a:t>
            </a:r>
          </a:p>
          <a:p>
            <a:pPr marL="0" indent="0">
              <a:buNone/>
            </a:pPr>
            <a:r>
              <a:rPr lang="en-US" sz="2400" dirty="0" smtClean="0"/>
              <a:t>4- When Questa finishes simulation, it’ll produce code coverage report and write filtered audio signal in a txt file.</a:t>
            </a:r>
          </a:p>
          <a:p>
            <a:pPr marL="0" indent="0">
              <a:buNone/>
            </a:pPr>
            <a:r>
              <a:rPr lang="en-US" sz="2400" dirty="0" smtClean="0"/>
              <a:t>5- After you close </a:t>
            </a:r>
            <a:r>
              <a:rPr lang="en-US" sz="2400" dirty="0" err="1" smtClean="0"/>
              <a:t>Questasim</a:t>
            </a:r>
            <a:r>
              <a:rPr lang="en-US" sz="2400" dirty="0" smtClean="0"/>
              <a:t>, The script will open </a:t>
            </a:r>
            <a:r>
              <a:rPr lang="en-US" sz="2400" dirty="0" err="1" smtClean="0"/>
              <a:t>Matlab</a:t>
            </a:r>
            <a:r>
              <a:rPr lang="en-US" sz="2400" dirty="0"/>
              <a:t> again and run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Generate_audio_dut.m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 </a:t>
            </a:r>
            <a:r>
              <a:rPr lang="en-US" sz="2400" dirty="0" smtClean="0"/>
              <a:t>script.</a:t>
            </a:r>
          </a:p>
          <a:p>
            <a:pPr marL="0" indent="0">
              <a:buNone/>
            </a:pPr>
            <a:r>
              <a:rPr lang="en-US" sz="2400" dirty="0" smtClean="0"/>
              <a:t>6- The second </a:t>
            </a:r>
            <a:r>
              <a:rPr lang="en-US" sz="2400" dirty="0" err="1" smtClean="0"/>
              <a:t>Matlab</a:t>
            </a:r>
            <a:r>
              <a:rPr lang="en-US" sz="2400" dirty="0" smtClean="0"/>
              <a:t> script will take the filtered audio txt file and convert it into </a:t>
            </a:r>
            <a:r>
              <a:rPr lang="en-US" sz="2400" dirty="0" err="1" smtClean="0"/>
              <a:t>heared</a:t>
            </a:r>
            <a:r>
              <a:rPr lang="en-US" sz="2400" dirty="0" smtClean="0"/>
              <a:t> audio wav file.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8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15963"/>
          </a:xfrm>
        </p:spPr>
        <p:txBody>
          <a:bodyPr/>
          <a:lstStyle/>
          <a:p>
            <a:pPr algn="ctr"/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DUT Results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990600"/>
            <a:ext cx="10742929" cy="541020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Transcript output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612" y="1524000"/>
            <a:ext cx="8839200" cy="496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0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304800"/>
            <a:ext cx="5078677" cy="579120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Code Coverage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218881" y="304800"/>
            <a:ext cx="4951729" cy="586740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Functional coverage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Sine waveforms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Audio waveform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801" y="1947231"/>
            <a:ext cx="9980772" cy="1828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0"/>
          <a:stretch/>
        </p:blipFill>
        <p:spPr>
          <a:xfrm>
            <a:off x="1315800" y="4346009"/>
            <a:ext cx="9980773" cy="21247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7" b="25485"/>
          <a:stretch/>
        </p:blipFill>
        <p:spPr>
          <a:xfrm>
            <a:off x="6932612" y="895885"/>
            <a:ext cx="3724986" cy="38100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812" y="895885"/>
            <a:ext cx="3624173" cy="38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8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971800"/>
            <a:ext cx="8735325" cy="1066800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GITHUB: </a:t>
            </a:r>
            <a:r>
              <a:rPr lang="en-US" sz="2400" dirty="0" smtClean="0">
                <a:hlinkClick r:id="rId2"/>
              </a:rPr>
              <a:t>mwael2002</a:t>
            </a:r>
            <a:r>
              <a:rPr lang="en-US" sz="2400" dirty="0" smtClean="0"/>
              <a:t>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err="1" smtClean="0"/>
              <a:t>LinkedIN</a:t>
            </a:r>
            <a:r>
              <a:rPr lang="en-US" sz="2400" dirty="0"/>
              <a:t>: </a:t>
            </a:r>
            <a:r>
              <a:rPr lang="en-US" sz="2400" dirty="0" smtClean="0">
                <a:solidFill>
                  <a:schemeClr val="tx1"/>
                </a:solidFill>
                <a:hlinkClick r:id="rId3"/>
              </a:rPr>
              <a:t>Mohammad </a:t>
            </a:r>
            <a:r>
              <a:rPr lang="en-US" sz="2400" dirty="0" err="1" smtClean="0">
                <a:solidFill>
                  <a:schemeClr val="tx1"/>
                </a:solidFill>
                <a:hlinkClick r:id="rId3"/>
              </a:rPr>
              <a:t>Wael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508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4873beb7-5857-4685-be1f-d57550cc96c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963</TotalTime>
  <Words>1242</Words>
  <Application>Microsoft Office PowerPoint</Application>
  <PresentationFormat>Custom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Tech 16x9</vt:lpstr>
      <vt:lpstr>Verification of FIR filter</vt:lpstr>
      <vt:lpstr>Contents</vt:lpstr>
      <vt:lpstr>Introduction</vt:lpstr>
      <vt:lpstr>PowerPoint Presentation</vt:lpstr>
      <vt:lpstr>Filter Design</vt:lpstr>
      <vt:lpstr>Transposed Vs. Direct Form filter</vt:lpstr>
      <vt:lpstr>PowerPoint Presentation</vt:lpstr>
      <vt:lpstr>MATLAB Golden Model</vt:lpstr>
      <vt:lpstr>PowerPoint Presentation</vt:lpstr>
      <vt:lpstr>PowerPoint Presentation</vt:lpstr>
      <vt:lpstr>PowerPoint Presentation</vt:lpstr>
      <vt:lpstr>PowerPoint Presentation</vt:lpstr>
      <vt:lpstr> </vt:lpstr>
      <vt:lpstr>FIR UVM Environment</vt:lpstr>
      <vt:lpstr>PowerPoint Presentation</vt:lpstr>
      <vt:lpstr>PowerPoint Presentation</vt:lpstr>
      <vt:lpstr>PowerPoint Presentation</vt:lpstr>
      <vt:lpstr>PowerPoint Presentation</vt:lpstr>
      <vt:lpstr>Project phases</vt:lpstr>
      <vt:lpstr>DUT Results</vt:lpstr>
      <vt:lpstr>PowerPoint Presentation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Verification of FIR filter</dc:title>
  <dc:creator>Mohamed Salama</dc:creator>
  <cp:lastModifiedBy>Mohamed Salama</cp:lastModifiedBy>
  <cp:revision>75</cp:revision>
  <dcterms:created xsi:type="dcterms:W3CDTF">2024-12-22T19:48:27Z</dcterms:created>
  <dcterms:modified xsi:type="dcterms:W3CDTF">2026-02-23T15:14:36Z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